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7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067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Analytics &amp; Business Intelligence System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0" y="1783080"/>
            <a:ext cx="27432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500K+ Retail Transactions into Actionable Business Insights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37744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87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Pranavi Chelumala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423160"/>
            <a:ext cx="237744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487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423160"/>
            <a:ext cx="237744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487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3504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Amdox Technologies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3364992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64408" y="3364992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25696" y="3364992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25696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86984" y="3364992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86984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48272" y="3364992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09560" y="3364992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33649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was built and what it addresses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02336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664208"/>
            <a:ext cx="36576" cy="1463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276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generate millions of transactions — manual analysis is time-consuming and error-prone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322576"/>
            <a:ext cx="36576" cy="1463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visibility into sales trends, product performance, and customer behaviour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980944"/>
            <a:ext cx="36576" cy="1463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443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KPIs across regions and time periods requires hours of manual Excel 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639312"/>
            <a:ext cx="36576" cy="1463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027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 made without data — leading to inventory risks and missed opportunities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43000"/>
            <a:ext cx="4023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INTRODUCTION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36592" y="1664208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276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Power BI Business Intelligence system on 500K+ retail transactions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6592" y="2322576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interactive dashboards covering sales, products, customers, geography and inventory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2980944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443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used for data cleaning, EDA and customer segmentation (RFM clustering)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36592" y="3639312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6027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transactional data into real-time, decision-ready business insights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Business Intelligence system was designed to achieve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retail sales and customer data across 500K+ transactions to uncover business trends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3258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12 interactive Power BI dashboards for real-time business performance monitoring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2316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231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5603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10+ KPIs including revenue, orders, customers, quantity sold and average order value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2316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231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9240" y="25603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and bottom performing products across 3,631 unique SKUs by revenue and quantity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657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customer purchasing patterns using RFM segmentation across 4,304 customers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57600"/>
            <a:ext cx="5029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6576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business decisions through geographic, seasonal and inventory risk analysis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 &amp;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 from raw data to business intelligence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1234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80160"/>
            <a:ext cx="12344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984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30428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 retail transaction records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format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63040" y="2377440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1280160"/>
            <a:ext cx="1234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91640" y="1280160"/>
            <a:ext cx="12344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12984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30428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null values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formats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26080" y="2377440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280160"/>
            <a:ext cx="1234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280160"/>
            <a:ext cx="12344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2984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5468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54680" y="230428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+ Python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 &amp; KPIs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89120" y="2377440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1280160"/>
            <a:ext cx="1234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1280160"/>
            <a:ext cx="12344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2984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1772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Analysis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230428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trends, patterns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 segmentation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52160" y="2377440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1280160"/>
            <a:ext cx="1234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280160"/>
            <a:ext cx="12344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12984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8076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230428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Power BI dashboards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visuals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15200" y="2377440"/>
            <a:ext cx="2286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3800" y="1280160"/>
            <a:ext cx="12344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43800" y="1280160"/>
            <a:ext cx="12344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129844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54380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43800" y="230428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decisions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scope of the retail transaction dataset used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029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ATTRIBUTES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5029200" cy="475488"/>
          </a:xfrm>
          <a:prstGeom prst="rect">
            <a:avLst/>
          </a:prstGeom>
          <a:solidFill>
            <a:srgbClr val="EB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2704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5270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UK-based Retail Sales Transactions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84248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025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00253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~500,000+ transaction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59736"/>
            <a:ext cx="5029200" cy="475488"/>
          </a:xfrm>
          <a:prstGeom prst="rect">
            <a:avLst/>
          </a:prstGeom>
          <a:solidFill>
            <a:srgbClr val="EB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780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4780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primary 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535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95351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2010 – December 2011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10712"/>
            <a:ext cx="5029200" cy="475488"/>
          </a:xfrm>
          <a:prstGeom prst="rect">
            <a:avLst/>
          </a:prstGeom>
          <a:solidFill>
            <a:srgbClr val="EB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290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4290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countries — UK dominant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88620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044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39044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1143000"/>
            <a:ext cx="3200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143000"/>
            <a:ext cx="320040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15000" y="1581912"/>
            <a:ext cx="54864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InvoiceNo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1929384"/>
            <a:ext cx="54864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33872" y="1901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StockCode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2276856"/>
            <a:ext cx="54864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2249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2624328"/>
            <a:ext cx="54864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33872" y="2596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15000" y="2971800"/>
            <a:ext cx="54864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33872" y="2944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15000" y="3319272"/>
            <a:ext cx="54864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33872" y="3291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UnitPrice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15000" y="3666744"/>
            <a:ext cx="54864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3639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15000" y="4014216"/>
            <a:ext cx="54864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33872" y="39867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15000" y="4361688"/>
            <a:ext cx="54864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4334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TotalPrice (Calculated)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taken to clean, transform and prepare the dataset for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69748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eliminated duplicate invoice records to ensure data integrity and accuracy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69748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25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Null Values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missing CustomerID and Description fields using appropriate imputation and filtering strategies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325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Formats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date formats, text casing, and numeric fields for consistent analysis across all records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5204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TotalPrice = Quantity × UnitPrice as a calculated field; built date hierarchies for time intelligence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017520"/>
            <a:ext cx="26974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Measures (DAX)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5204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10+ DAX measures including Total Revenue, Avg Order Value, Avg Revenue per Customer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1752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Relationships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5204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relationships between transaction, product and customer tables in Power BI data model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Interactive Power BI Pages — End-to-End Retail Business Intelligence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9202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9202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548079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0972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97280"/>
            <a:ext cx="19202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188720"/>
            <a:ext cx="19202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50592" y="1548079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10972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097280"/>
            <a:ext cx="19202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188720"/>
            <a:ext cx="19202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26864" y="1548079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Tracked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1097280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097280"/>
            <a:ext cx="19202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188720"/>
            <a:ext cx="192024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03136" y="1548079"/>
            <a:ext cx="192024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Analysed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011680"/>
            <a:ext cx="425196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011680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01168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20482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0" y="20482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KPIs — revenue, orders, customers &amp; top products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478024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478024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" y="2514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yearly revenue patterns — Jan 2010 to Dec 2011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944368"/>
            <a:ext cx="425196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944368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944368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" y="29809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103120" y="29809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Top/bottom products by revenue &amp; quantity across 3,631 SKUs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410712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410712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410712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8368" y="34472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03120" y="3447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value, purchase frequency &amp; RFM segmentation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3877056"/>
            <a:ext cx="425196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877056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87705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" y="39136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Region/Country Sales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03120" y="3913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revenue &amp; customer distribution across countries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343400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4343400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34340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8368" y="43799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Seasonal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103120" y="43799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sales cycles and seasonal revenue analysis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09160" y="2011680"/>
            <a:ext cx="425196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2011680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201168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93208" y="20482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37960" y="20482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 patterns and spending distribution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09160" y="2478024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9160" y="2478024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916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93208" y="2514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Revenue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3796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breakdown, avg order value &amp; monthly trends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09160" y="2944368"/>
            <a:ext cx="425196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09160" y="2944368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09160" y="2944368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93208" y="29809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37960" y="29809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 vs top-selling products — risk &amp; replenishment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709160" y="3410712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09160" y="3410712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9160" y="3410712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093208" y="34472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Transaction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537960" y="3447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Invoice-level transaction analysis and order distribution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709160" y="3877056"/>
            <a:ext cx="4251960" cy="438912"/>
          </a:xfrm>
          <a:prstGeom prst="rect">
            <a:avLst/>
          </a:prstGeom>
          <a:solidFill>
            <a:srgbClr val="EB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09160" y="3877056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87705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093208" y="39136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537960" y="3913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clustering, demand forecasting &amp; daily sales trends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709160" y="4343400"/>
            <a:ext cx="4251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09160" y="4343400"/>
            <a:ext cx="347472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09160" y="434340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093208" y="43799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537960" y="43799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Cross-dashboard dynamic filtering by date, country &amp; product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business health — revenue, orders, customers &amp; top products at a glance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577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dash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87552"/>
            <a:ext cx="5522976" cy="3145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96012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960120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08192" y="9966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£9.56M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08192" y="1307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9320" y="1675638"/>
            <a:ext cx="2880360" cy="5897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1636776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192" y="17465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19,382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08192" y="20574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8689" y="2369742"/>
            <a:ext cx="2880360" cy="61921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3224" y="2345436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8192" y="24963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4,304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08192" y="28072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16752" y="3086100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3072384"/>
            <a:ext cx="45719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08192" y="32461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099048" y="34630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Sold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989320" y="4069080"/>
            <a:ext cx="2880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016752" y="3817620"/>
            <a:ext cx="28803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2"/>
          <p:cNvSpPr/>
          <p:nvPr/>
        </p:nvSpPr>
        <p:spPr>
          <a:xfrm>
            <a:off x="5989320" y="40690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976112" y="4244341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0760" y="4101083"/>
            <a:ext cx="2638044" cy="498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dominates sales — contributing 90.17% of total revenue (£8.12M)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080760" y="5001768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80760" y="446405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CRAFT, LITTLE BIRDIE is the highest quantity sold product across all regions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980176" y="4610103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yearly revenue patterns across Jan 2010 – Dec 2011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577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dash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87552"/>
            <a:ext cx="5522976" cy="3145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960120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960120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08192" y="9966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£9.56M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08192" y="1307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9320" y="1709928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1709928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192" y="17465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19,382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08192" y="20574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2459736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2459736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8192" y="24963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08192" y="28072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89320" y="3209544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3209544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08192" y="32461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08192" y="355701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Sold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989320" y="4069080"/>
            <a:ext cx="2880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89320" y="4069080"/>
            <a:ext cx="28803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89320" y="40690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80760" y="4471416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81344" y="44165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revenue significantly outperformed 2010 — strong YoY business growth confirmed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193542" y="4573524"/>
            <a:ext cx="45719" cy="1082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32988" y="440283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2011 recorded highest revenue — seasonal holiday demand surge identified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8892" y="4558284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5770" y="440283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Autumn contributes 68.64% of seasonal revenue — strongest trading season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0" y="4876038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&amp; bottom products by revenue and quantity sold across 3,631 unique products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577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dash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87552"/>
            <a:ext cx="5522976" cy="3145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960120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960120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08192" y="9966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08192" y="1307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9320" y="1709928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1709928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192" y="17465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3,631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08192" y="20574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2569464"/>
            <a:ext cx="2880360" cy="1362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2569464"/>
            <a:ext cx="28803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56946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80760" y="2971800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81344" y="291693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DOTCOM POSTAGE is the highest revenue-generating product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080760" y="3502152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81344" y="344728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CRAFT, LITTLE BIRDIE leads in quantity sold — high volume, lower unit price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80760" y="4032504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81344" y="397764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drive a disproportionate share of total revenue — concentration risk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71617" y="4503420"/>
            <a:ext cx="45719" cy="1600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81344" y="437388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treemap reveals DOTCOM POSTAGE &amp; REGENCY CAKESTAND dominate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&amp; Segmentation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value, purchase frequency and RFM-based segmentation across 4,304 customers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577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dash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87552"/>
            <a:ext cx="5522976" cy="3145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960120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960120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08192" y="9966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4,304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08192" y="1307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9320" y="1709928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1709928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192" y="17465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£2,220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08192" y="20574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per Customer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2459736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2459736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8192" y="24963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08192" y="28072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Quantity Purchased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89320" y="3319272"/>
            <a:ext cx="2880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3319272"/>
            <a:ext cx="28803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33192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80760" y="3721608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81344" y="366674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clustering identified 4 distinct customer segments — high-value cluster shows low recency (recent buyers)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80760" y="4256532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81344" y="413156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spenders are in CustomerID 14K–18K range, concentrated in the UK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80760" y="4620768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04204" y="449580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 analysis reveals a small high-frequency customer group driving majority of orders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9133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Country Sales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revenue and customer distribution across multiple countries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577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dash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87552"/>
            <a:ext cx="5522976" cy="3145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960120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960120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08192" y="9966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£9.56M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08192" y="1307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9320" y="1709928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1709928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192" y="17465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19,382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08192" y="20574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2459736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2459736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8192" y="24963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4,304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08192" y="28072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89320" y="3319272"/>
            <a:ext cx="2880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3319272"/>
            <a:ext cx="28803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33192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80760" y="3721608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81344" y="366674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alone accounts for £8.12M — 90.17% of total revenue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80760" y="4210812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81344" y="407822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EIRE (Ireland) is second at 2.81% (£0.25M), followed by Netherlands &amp; Germany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80760" y="4562094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7628" y="443026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international expansion opportunity identified in underperforming markets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777996" y="4581144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72484" y="444398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highly concentrated — geographic diversification strategy recommended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slow-moving vs top-selling products to support inventory management decisions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577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dash-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87552"/>
            <a:ext cx="5522976" cy="3145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960120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960120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08192" y="99669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08192" y="1307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Quantity per Order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9320" y="1709928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1709928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192" y="17465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3,449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08192" y="20574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Stock Codes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2459736"/>
            <a:ext cx="2880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2459736"/>
            <a:ext cx="54864" cy="6583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8192" y="24963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£9.56M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08192" y="28072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89320" y="3319272"/>
            <a:ext cx="28803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3319272"/>
            <a:ext cx="28803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33192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44184" y="3805428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81344" y="366674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BAG RED RETROSPOT &amp; JUMBO BAG PINK POLKADOT — lowest selling, inventory risk flagged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44184" y="4191000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81344" y="405231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CRAFT, LITTLE BIRDIE leads top selling — high replenishment priority recommended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44184" y="4547616"/>
            <a:ext cx="36576" cy="1463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7628" y="443026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treemap identifies top revenue products for strategic stocking decisions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Business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from 500K+ retail transactions across 2 years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69748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075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£9.56M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89280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across 19,382 orders — strong 2-year retail performance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9748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075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89280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revenue share (£8.12M) — geographic concentration risk identified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43000"/>
            <a:ext cx="26974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3075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2011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63640" y="189280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revenue period — seasonal demand surge confirmed via trend analysis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363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11480" y="372160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 clusters identified — high-value group shows recent, high-spend behaviour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71800"/>
            <a:ext cx="26974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1363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£2,220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37560" y="372160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per customer | Avg Order Value: £493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7180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1363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Products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63640" y="372160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 inventory flagged — reallocation &amp; clearance strategy recommended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Retail Networks  |  Pranavi Chelumala  |  Data Analyst Intern  |  Amdox Technologies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772400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delivered and strategic recommendations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DELIVERED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12-page interactive Power BI Business Intelligence system analysing 500K+ retail transactions — covering sales, products, customers, geography and inventory end-to-end using Power BI, DAX, Python, Power Query and RFM Segmentation.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RECOMMENDATIONS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8595360" cy="42062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12848"/>
            <a:ext cx="1280160" cy="420624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128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91640" y="226771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EIRE, Netherlands &amp; Germany — reduce UK revenue dependency (90.17%)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688336"/>
            <a:ext cx="8595360" cy="42062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8336"/>
            <a:ext cx="1280160" cy="420624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8833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91640" y="274320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stock &amp; promotions pre-Q4 — capitalise on confirmed seasonal demand surge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163824"/>
            <a:ext cx="8595360" cy="42062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63824"/>
            <a:ext cx="1280160" cy="420624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638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91640" y="321868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high-value RFM cluster for loyalty &amp; retention strategy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420624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1280160" cy="420624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6393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91640" y="3694176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slow-moving stock (LUNCH BAG, JUMBO BAG) — prioritise top sellers for restocking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8595360" cy="420624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114800"/>
            <a:ext cx="1280160" cy="420624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14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91640" y="416966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on DOTCOM POSTAGE &amp; PAPER CRAFT — highest revenue &amp; volume products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Applied:  Power BI  ·  DAX  ·  Python  ·  Power Query  ·  RFM Segmentation  ·  EDA  ·  Excel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1526</Words>
  <Application>Microsoft Office PowerPoint</Application>
  <PresentationFormat>On-screen Show (16:9)</PresentationFormat>
  <Paragraphs>299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Retail Networks – Retail Sales Analytics</dc:title>
  <dc:subject>PptxGenJS Presentation</dc:subject>
  <dc:creator>Pranavi Chelumala</dc:creator>
  <cp:lastModifiedBy>HP</cp:lastModifiedBy>
  <cp:revision>3</cp:revision>
  <dcterms:created xsi:type="dcterms:W3CDTF">2026-05-24T07:19:18Z</dcterms:created>
  <dcterms:modified xsi:type="dcterms:W3CDTF">2026-05-24T07:33:23Z</dcterms:modified>
</cp:coreProperties>
</file>